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0" y="3108960"/>
            <a:ext cx="5120640" cy="5120640"/>
          </a:xfrm>
          <a:prstGeom prst="ellipse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1645920"/>
            <a:ext cx="6583680" cy="6583680"/>
          </a:xfrm>
          <a:prstGeom prst="ellipse">
            <a:avLst/>
          </a:prstGeom>
          <a:solidFill>
            <a:srgbClr val="4DB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-1280160"/>
            <a:ext cx="6766560" cy="6766560"/>
          </a:xfrm>
          <a:prstGeom prst="ellipse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4023360"/>
            <a:ext cx="3108960" cy="3108960"/>
          </a:xfrm>
          <a:prstGeom prst="ellipse">
            <a:avLst/>
          </a:prstGeom>
          <a:solidFill>
            <a:srgbClr val="00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731520" y="548640"/>
            <a:ext cx="292608" cy="292608"/>
          </a:xfrm>
          <a:prstGeom prst="diamond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502920"/>
            <a:ext cx="18288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00877A"/>
                </a:solidFill>
                <a:latin typeface="Noto Sans KR"/>
              </a:rPr>
              <a:t>MY 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85216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000" b="1">
                <a:solidFill>
                  <a:srgbClr val="333333"/>
                </a:solidFill>
                <a:latin typeface="Noto Sans KR"/>
              </a:rPr>
              <a:t>Claude Code 소개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108960"/>
            <a:ext cx="1097280" cy="64008"/>
          </a:xfrm>
          <a:prstGeom prst="rect">
            <a:avLst/>
          </a:prstGeom>
          <a:solidFill>
            <a:srgbClr val="F5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58521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006B63"/>
                </a:solidFill>
                <a:latin typeface="Noto Sans KR"/>
              </a:rPr>
              <a:t>터미널에서 일하는</a:t>
            </a:r>
          </a:p>
          <a:p>
            <a:pPr algn="l"/>
            <a:r>
              <a:rPr sz="2000" b="1">
                <a:solidFill>
                  <a:srgbClr val="006B63"/>
                </a:solidFill>
                <a:latin typeface="Noto Sans KR"/>
              </a:rPr>
              <a:t>AI 코딩 에이전트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9496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808080"/>
                </a:solidFill>
                <a:latin typeface="Noto Sans KR"/>
              </a:rPr>
              <a:t>claude.com/claude-code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Noto Sans KR"/>
              </a:rPr>
              <a:t>Claude Code란?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86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808080"/>
                </a:solidFill>
                <a:latin typeface="Noto Sans KR"/>
              </a:rPr>
              <a:t>코드베이스를 이해하고 직접 작업하는 에이전트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63040"/>
            <a:ext cx="11002975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iamond 4"/>
          <p:cNvSpPr/>
          <p:nvPr/>
        </p:nvSpPr>
        <p:spPr>
          <a:xfrm>
            <a:off x="10058400" y="502920"/>
            <a:ext cx="274320" cy="274320"/>
          </a:xfrm>
          <a:prstGeom prst="diamond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457200"/>
            <a:ext cx="128016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00877A"/>
                </a:solidFill>
                <a:latin typeface="Noto Sans KR"/>
              </a:rPr>
              <a:t>MY LOGO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26364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Noto Sans KR"/>
              </a:rPr>
              <a:t>2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Noto Sans KR"/>
              </a:rPr>
              <a:t>claude.com/claude-code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4206240" cy="4206240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3749039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006B63"/>
                </a:solidFill>
                <a:latin typeface="Noto Sans KR"/>
              </a:rPr>
              <a:t>터미널 속</a:t>
            </a:r>
          </a:p>
          <a:p>
            <a:pPr algn="l"/>
            <a:r>
              <a:rPr sz="2200" b="1">
                <a:solidFill>
                  <a:srgbClr val="006B63"/>
                </a:solidFill>
                <a:latin typeface="Noto Sans KR"/>
              </a:rPr>
              <a:t>AI 코딩 에이전트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91840"/>
            <a:ext cx="3749039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Noto Sans KR"/>
              </a:rPr>
              <a:t>자연어로 요청하면 코드를 읽고,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Noto Sans KR"/>
              </a:rPr>
              <a:t>파일을 고치고, 명령을 실행합니다.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Noto Sans KR"/>
              </a:rPr>
              <a:t/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Noto Sans KR"/>
              </a:rPr>
              <a:t>설명만 하는 챗봇이 아니라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Noto Sans KR"/>
              </a:rPr>
              <a:t>직접 일하는 동료에 가깝습니다.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1783080"/>
            <a:ext cx="3154680" cy="2011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49240" y="2011680"/>
            <a:ext cx="640080" cy="640080"/>
          </a:xfrm>
          <a:prstGeom prst="ellipse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743200"/>
            <a:ext cx="2788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Noto Sans KR"/>
              </a:rPr>
              <a:t>코드 이해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154680"/>
            <a:ext cx="2788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KR"/>
              </a:rPr>
              <a:t>프로젝트 전체 구조를 파악합니다.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1783080"/>
            <a:ext cx="3154680" cy="2011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0" y="2011680"/>
            <a:ext cx="640080" cy="640080"/>
          </a:xfrm>
          <a:prstGeom prst="ellipse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743200"/>
            <a:ext cx="2788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Noto Sans KR"/>
              </a:rPr>
              <a:t>파일 수정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3154680"/>
            <a:ext cx="2788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KR"/>
              </a:rPr>
              <a:t>여러 파일을 한 번에 편집합니다.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3977639"/>
            <a:ext cx="3154680" cy="2011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49240" y="4206240"/>
            <a:ext cx="640080" cy="640080"/>
          </a:xfrm>
          <a:prstGeom prst="ellipse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937759"/>
            <a:ext cx="2788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Noto Sans KR"/>
              </a:rPr>
              <a:t>명령 실행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5349240"/>
            <a:ext cx="2788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KR"/>
              </a:rPr>
              <a:t>테스트와 빌드를 직접 돌립니다.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58200" y="3977639"/>
            <a:ext cx="3154680" cy="2011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86800" y="4206240"/>
            <a:ext cx="640080" cy="640080"/>
          </a:xfrm>
          <a:prstGeom prst="ellipse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937759"/>
            <a:ext cx="2788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Noto Sans KR"/>
              </a:rPr>
              <a:t>대화형 작업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5349240"/>
            <a:ext cx="2788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KR"/>
              </a:rPr>
              <a:t>결과를 보며 계속 다듬습니다.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Noto Sans KR"/>
              </a:rPr>
              <a:t>핵심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86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808080"/>
                </a:solidFill>
                <a:latin typeface="Noto Sans KR"/>
              </a:rPr>
              <a:t>하나의 에이전트가 개발 흐름 전체를 다룹니다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63040"/>
            <a:ext cx="11002975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iamond 4"/>
          <p:cNvSpPr/>
          <p:nvPr/>
        </p:nvSpPr>
        <p:spPr>
          <a:xfrm>
            <a:off x="10058400" y="502920"/>
            <a:ext cx="274320" cy="274320"/>
          </a:xfrm>
          <a:prstGeom prst="diamond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457200"/>
            <a:ext cx="128016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00877A"/>
                </a:solidFill>
                <a:latin typeface="Noto Sans KR"/>
              </a:rPr>
              <a:t>MY LOGO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26364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Noto Sans KR"/>
              </a:rPr>
              <a:t>3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Noto Sans KR"/>
              </a:rPr>
              <a:t>claude.com/claude-code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4572000" y="3063240"/>
            <a:ext cx="1523847" cy="868680"/>
          </a:xfrm>
          <a:prstGeom prst="line">
            <a:avLst/>
          </a:prstGeom>
          <a:ln w="12700">
            <a:solidFill>
              <a:srgbClr val="4DB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095847" y="3063240"/>
            <a:ext cx="1521105" cy="868680"/>
          </a:xfrm>
          <a:prstGeom prst="line">
            <a:avLst/>
          </a:prstGeom>
          <a:ln w="12700">
            <a:solidFill>
              <a:srgbClr val="4DB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4572000" y="3931920"/>
            <a:ext cx="1523847" cy="640080"/>
          </a:xfrm>
          <a:prstGeom prst="line">
            <a:avLst/>
          </a:prstGeom>
          <a:ln w="12700">
            <a:solidFill>
              <a:srgbClr val="4DB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95847" y="3931920"/>
            <a:ext cx="1521105" cy="640080"/>
          </a:xfrm>
          <a:prstGeom prst="line">
            <a:avLst/>
          </a:prstGeom>
          <a:ln w="12700">
            <a:solidFill>
              <a:srgbClr val="4DB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48640" y="1783080"/>
            <a:ext cx="4023360" cy="1280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2057400"/>
            <a:ext cx="731520" cy="731520"/>
          </a:xfrm>
          <a:prstGeom prst="ellipse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19" y="1892807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Noto Sans KR"/>
              </a:rPr>
              <a:t>코드 탐색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19" y="2286000"/>
            <a:ext cx="28346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KR"/>
              </a:rPr>
              <a:t>파일과 코드를 검색하고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Noto Sans KR"/>
              </a:rPr>
              <a:t>읽어서 맥락을 파악합니다.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16952" y="1783080"/>
            <a:ext cx="4023360" cy="1280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99831" y="2057400"/>
            <a:ext cx="731520" cy="731520"/>
          </a:xfrm>
          <a:prstGeom prst="ellipse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232" y="1892807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Noto Sans KR"/>
              </a:rPr>
              <a:t>파일 편집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14232" y="2286000"/>
            <a:ext cx="28346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KR"/>
              </a:rPr>
              <a:t>요청에 맞게 코드를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Noto Sans KR"/>
              </a:rPr>
              <a:t>정확히 수정합니다.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572000"/>
            <a:ext cx="4023360" cy="1280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4846320"/>
            <a:ext cx="731520" cy="731520"/>
          </a:xfrm>
          <a:prstGeom prst="ellipse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19" y="4681728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Noto Sans KR"/>
              </a:rPr>
              <a:t>명령 실행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19" y="5074920"/>
            <a:ext cx="28346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KR"/>
              </a:rPr>
              <a:t>테스트, 빌드 등 터미널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Noto Sans KR"/>
              </a:rPr>
              <a:t>명령을 실행합니다.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16952" y="4572000"/>
            <a:ext cx="4023360" cy="1280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99831" y="4846320"/>
            <a:ext cx="731520" cy="731520"/>
          </a:xfrm>
          <a:prstGeom prst="ellipse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14232" y="4681728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Noto Sans KR"/>
              </a:rPr>
              <a:t>Git 작업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14232" y="5074920"/>
            <a:ext cx="28346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Noto Sans KR"/>
              </a:rPr>
              <a:t>변경 내용을 확인하고</a:t>
            </a:r>
          </a:p>
          <a:p>
            <a:pPr algn="l"/>
            <a:r>
              <a:rPr sz="1200" b="0">
                <a:solidFill>
                  <a:srgbClr val="333333"/>
                </a:solidFill>
                <a:latin typeface="Noto Sans KR"/>
              </a:rPr>
              <a:t>커밋 작업을 돕습니다.</a:t>
            </a:r>
          </a:p>
        </p:txBody>
      </p:sp>
      <p:sp>
        <p:nvSpPr>
          <p:cNvPr id="30" name="Oval 29"/>
          <p:cNvSpPr/>
          <p:nvPr/>
        </p:nvSpPr>
        <p:spPr>
          <a:xfrm>
            <a:off x="5181447" y="3017520"/>
            <a:ext cx="1828800" cy="1828800"/>
          </a:xfrm>
          <a:prstGeom prst="ellipse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364327" y="3200400"/>
            <a:ext cx="1463040" cy="1463040"/>
          </a:xfrm>
          <a:prstGeom prst="ellipse">
            <a:avLst/>
          </a:prstGeom>
          <a:solidFill>
            <a:srgbClr val="00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64327" y="3474720"/>
            <a:ext cx="146304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KR"/>
              </a:rPr>
              <a:t>Claude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Noto Sans KR"/>
              </a:rPr>
              <a:t>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Noto Sans KR"/>
              </a:rPr>
              <a:t>작업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86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808080"/>
                </a:solidFill>
                <a:latin typeface="Noto Sans KR"/>
              </a:rPr>
              <a:t>요청부터 검토까지 네 단계로 진행됩니다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63040"/>
            <a:ext cx="11002975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iamond 4"/>
          <p:cNvSpPr/>
          <p:nvPr/>
        </p:nvSpPr>
        <p:spPr>
          <a:xfrm>
            <a:off x="10058400" y="502920"/>
            <a:ext cx="274320" cy="274320"/>
          </a:xfrm>
          <a:prstGeom prst="diamond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457200"/>
            <a:ext cx="128016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00877A"/>
                </a:solidFill>
                <a:latin typeface="Noto Sans KR"/>
              </a:rPr>
              <a:t>MY LOGO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26364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Noto Sans KR"/>
              </a:rPr>
              <a:t>4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Noto Sans KR"/>
              </a:rPr>
              <a:t>claude.com/claude-code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2377440"/>
            <a:ext cx="10545775" cy="0"/>
          </a:xfrm>
          <a:prstGeom prst="line">
            <a:avLst/>
          </a:prstGeom>
          <a:ln w="12700">
            <a:solidFill>
              <a:srgbClr val="4DB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48640" y="1828800"/>
            <a:ext cx="2569464" cy="3566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21892" y="1965960"/>
            <a:ext cx="822960" cy="822960"/>
          </a:xfrm>
          <a:prstGeom prst="ellipse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K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2569464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808080"/>
                </a:solidFill>
                <a:latin typeface="Noto Sans KR"/>
              </a:rPr>
              <a:t>STEP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29000"/>
            <a:ext cx="256946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006B63"/>
                </a:solidFill>
                <a:latin typeface="Noto Sans KR"/>
              </a:rPr>
              <a:t>요청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2203704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Noto Sans KR"/>
              </a:rPr>
              <a:t>하고 싶은 일을</a:t>
            </a:r>
          </a:p>
          <a:p>
            <a:pPr algn="ctr"/>
            <a:r>
              <a:rPr sz="1400" b="0">
                <a:solidFill>
                  <a:srgbClr val="333333"/>
                </a:solidFill>
                <a:latin typeface="Noto Sans KR"/>
              </a:rPr>
              <a:t>자연어로 말합니다.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2424" y="1828800"/>
            <a:ext cx="2569464" cy="3566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65676" y="1965960"/>
            <a:ext cx="822960" cy="822960"/>
          </a:xfrm>
          <a:prstGeom prst="ellipse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K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2424" y="3017520"/>
            <a:ext cx="2569464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808080"/>
                </a:solidFill>
                <a:latin typeface="Noto Sans KR"/>
              </a:rPr>
              <a:t>STEP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2424" y="3429000"/>
            <a:ext cx="256946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006B63"/>
                </a:solidFill>
                <a:latin typeface="Noto Sans KR"/>
              </a:rPr>
              <a:t>탐색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5304" y="4114800"/>
            <a:ext cx="2203704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Noto Sans KR"/>
              </a:rPr>
              <a:t>관련 파일을 찾아</a:t>
            </a:r>
          </a:p>
          <a:p>
            <a:pPr algn="ctr"/>
            <a:r>
              <a:rPr sz="1400" b="0">
                <a:solidFill>
                  <a:srgbClr val="333333"/>
                </a:solidFill>
                <a:latin typeface="Noto Sans KR"/>
              </a:rPr>
              <a:t>코드를 읽습니다.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207" y="1828800"/>
            <a:ext cx="2569464" cy="3566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09459" y="1965960"/>
            <a:ext cx="822960" cy="822960"/>
          </a:xfrm>
          <a:prstGeom prst="ellipse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KR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7" y="3017520"/>
            <a:ext cx="2569464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808080"/>
                </a:solidFill>
                <a:latin typeface="Noto Sans KR"/>
              </a:rPr>
              <a:t>STEP 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7" y="3429000"/>
            <a:ext cx="256946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006B63"/>
                </a:solidFill>
                <a:latin typeface="Noto Sans KR"/>
              </a:rPr>
              <a:t>수정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114800"/>
            <a:ext cx="2203704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Noto Sans KR"/>
              </a:rPr>
              <a:t>계획에 따라</a:t>
            </a:r>
          </a:p>
          <a:p>
            <a:pPr algn="ctr"/>
            <a:r>
              <a:rPr sz="1400" b="0">
                <a:solidFill>
                  <a:srgbClr val="333333"/>
                </a:solidFill>
                <a:latin typeface="Noto Sans KR"/>
              </a:rPr>
              <a:t>파일을 편집합니다.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79992" y="1828800"/>
            <a:ext cx="2569464" cy="3566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53244" y="1965960"/>
            <a:ext cx="822960" cy="822960"/>
          </a:xfrm>
          <a:prstGeom prst="ellipse">
            <a:avLst/>
          </a:prstGeom>
          <a:solidFill>
            <a:srgbClr val="F5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KR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9992" y="3017520"/>
            <a:ext cx="2569464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808080"/>
                </a:solidFill>
                <a:latin typeface="Noto Sans KR"/>
              </a:rPr>
              <a:t>STEP 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9992" y="3429000"/>
            <a:ext cx="256946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006B63"/>
                </a:solidFill>
                <a:latin typeface="Noto Sans KR"/>
              </a:rPr>
              <a:t>검토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4114800"/>
            <a:ext cx="2203704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Noto Sans KR"/>
              </a:rPr>
              <a:t>변경 내용을 확인하고</a:t>
            </a:r>
          </a:p>
          <a:p>
            <a:pPr algn="ctr"/>
            <a:r>
              <a:rPr sz="1400" b="0">
                <a:solidFill>
                  <a:srgbClr val="333333"/>
                </a:solidFill>
                <a:latin typeface="Noto Sans KR"/>
              </a:rPr>
              <a:t>승인 또는 수정합니다.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Noto Sans KR"/>
              </a:rPr>
              <a:t>도구와 권한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86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808080"/>
                </a:solidFill>
                <a:latin typeface="Noto Sans KR"/>
              </a:rPr>
              <a:t>승인 단계로 안전하게 작업합니다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63040"/>
            <a:ext cx="11002975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iamond 4"/>
          <p:cNvSpPr/>
          <p:nvPr/>
        </p:nvSpPr>
        <p:spPr>
          <a:xfrm>
            <a:off x="10058400" y="502920"/>
            <a:ext cx="274320" cy="274320"/>
          </a:xfrm>
          <a:prstGeom prst="diamond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457200"/>
            <a:ext cx="128016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00877A"/>
                </a:solidFill>
                <a:latin typeface="Noto Sans KR"/>
              </a:rPr>
              <a:t>MY LOGO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26364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Noto Sans KR"/>
              </a:rPr>
              <a:t>5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Noto Sans KR"/>
              </a:rPr>
              <a:t>claude.com/claude-code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2743200" cy="914400"/>
          </a:xfrm>
          <a:prstGeom prst="rect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274320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읽기 도구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783080"/>
            <a:ext cx="8348472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783080"/>
            <a:ext cx="7955279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Noto Sans KR"/>
              </a:rPr>
              <a:t>Read, Grep, Glob으로 파일과 코드를 찾아 읽습니다.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80360"/>
            <a:ext cx="2743200" cy="914400"/>
          </a:xfrm>
          <a:prstGeom prst="rect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80360"/>
            <a:ext cx="274320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편집 도구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2880360"/>
            <a:ext cx="8348472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880360"/>
            <a:ext cx="7955279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Noto Sans KR"/>
              </a:rPr>
              <a:t>Edit, Write로 파일을 수정하며 실행 전 승인을 받습니다.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77639"/>
            <a:ext cx="2743200" cy="914400"/>
          </a:xfrm>
          <a:prstGeom prst="rect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977639"/>
            <a:ext cx="274320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명령 실행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3977639"/>
            <a:ext cx="8348472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977639"/>
            <a:ext cx="7955279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Noto Sans KR"/>
              </a:rPr>
              <a:t>터미널 명령을 실행하고 허용 규칙으로 승인을 줄입니다.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074920"/>
            <a:ext cx="2743200" cy="914400"/>
          </a:xfrm>
          <a:prstGeom prst="rect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074920"/>
            <a:ext cx="274320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권한 모드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5074920"/>
            <a:ext cx="8348472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5074920"/>
            <a:ext cx="7955279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Noto Sans KR"/>
              </a:rPr>
              <a:t>승인 방식을 골라 안전성과 속도를 조절합니다.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Noto Sans KR"/>
              </a:rPr>
              <a:t>확장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86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808080"/>
                </a:solidFill>
                <a:latin typeface="Noto Sans KR"/>
              </a:rPr>
              <a:t>프로젝트에 맞게 Claude Code를 넓힙니다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63040"/>
            <a:ext cx="11002975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iamond 4"/>
          <p:cNvSpPr/>
          <p:nvPr/>
        </p:nvSpPr>
        <p:spPr>
          <a:xfrm>
            <a:off x="10058400" y="502920"/>
            <a:ext cx="274320" cy="274320"/>
          </a:xfrm>
          <a:prstGeom prst="diamond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457200"/>
            <a:ext cx="128016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00877A"/>
                </a:solidFill>
                <a:latin typeface="Noto Sans KR"/>
              </a:rPr>
              <a:t>MY LOGO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26364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Noto Sans KR"/>
              </a:rPr>
              <a:t>6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Noto Sans KR"/>
              </a:rPr>
              <a:t>claude.com/claude-code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2035454" cy="3566160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00607" y="2103120"/>
            <a:ext cx="731520" cy="731520"/>
          </a:xfrm>
          <a:prstGeom prst="ellipse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63240"/>
            <a:ext cx="203545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006B63"/>
                </a:solidFill>
                <a:latin typeface="Noto Sans KR"/>
              </a:rPr>
              <a:t>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57600"/>
            <a:ext cx="1852574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Noto Sans KR"/>
              </a:rPr>
              <a:t>반복 작업의 절차를</a:t>
            </a:r>
          </a:p>
          <a:p>
            <a:pPr algn="ctr"/>
            <a:r>
              <a:rPr sz="1400" b="0">
                <a:solidFill>
                  <a:srgbClr val="333333"/>
                </a:solidFill>
                <a:latin typeface="Noto Sans KR"/>
              </a:rPr>
              <a:t>패키지로 재사용합니다.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12694" y="1828800"/>
            <a:ext cx="2035454" cy="3566160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64661" y="2103120"/>
            <a:ext cx="731520" cy="731520"/>
          </a:xfrm>
          <a:prstGeom prst="ellipse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2694" y="3063240"/>
            <a:ext cx="203545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006B63"/>
                </a:solidFill>
                <a:latin typeface="Noto Sans KR"/>
              </a:rPr>
              <a:t>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4134" y="3657600"/>
            <a:ext cx="1852574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Noto Sans KR"/>
              </a:rPr>
              <a:t>CLAUDE.md로</a:t>
            </a:r>
          </a:p>
          <a:p>
            <a:pPr algn="ctr"/>
            <a:r>
              <a:rPr sz="1400" b="0">
                <a:solidFill>
                  <a:srgbClr val="333333"/>
                </a:solidFill>
                <a:latin typeface="Noto Sans KR"/>
              </a:rPr>
              <a:t>프로젝트 지침을</a:t>
            </a:r>
          </a:p>
          <a:p>
            <a:pPr algn="ctr"/>
            <a:r>
              <a:rPr sz="1400" b="0">
                <a:solidFill>
                  <a:srgbClr val="333333"/>
                </a:solidFill>
                <a:latin typeface="Noto Sans KR"/>
              </a:rPr>
              <a:t>전달합니다.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76748" y="1828800"/>
            <a:ext cx="2035454" cy="3566160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28715" y="2103120"/>
            <a:ext cx="731520" cy="731520"/>
          </a:xfrm>
          <a:prstGeom prst="ellipse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6748" y="3063240"/>
            <a:ext cx="203545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006B63"/>
                </a:solidFill>
                <a:latin typeface="Noto Sans KR"/>
              </a:rPr>
              <a:t>Hooks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8188" y="3657600"/>
            <a:ext cx="1852574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Noto Sans KR"/>
              </a:rPr>
              <a:t>특정 시점에 명령을</a:t>
            </a:r>
          </a:p>
          <a:p>
            <a:pPr algn="ctr"/>
            <a:r>
              <a:rPr sz="1400" b="0">
                <a:solidFill>
                  <a:srgbClr val="333333"/>
                </a:solidFill>
                <a:latin typeface="Noto Sans KR"/>
              </a:rPr>
              <a:t>자동으로 실행합니다.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40803" y="1828800"/>
            <a:ext cx="2035454" cy="3566160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92770" y="2103120"/>
            <a:ext cx="731520" cy="731520"/>
          </a:xfrm>
          <a:prstGeom prst="ellipse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0803" y="3063240"/>
            <a:ext cx="203545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006B63"/>
                </a:solidFill>
                <a:latin typeface="Noto Sans KR"/>
              </a:rPr>
              <a:t>MCP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2243" y="3657600"/>
            <a:ext cx="1852574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Noto Sans KR"/>
              </a:rPr>
              <a:t>외부 도구와 서비스를</a:t>
            </a:r>
          </a:p>
          <a:p>
            <a:pPr algn="ctr"/>
            <a:r>
              <a:rPr sz="1400" b="0">
                <a:solidFill>
                  <a:srgbClr val="333333"/>
                </a:solidFill>
                <a:latin typeface="Noto Sans KR"/>
              </a:rPr>
              <a:t>연결합니다.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4857" y="1828800"/>
            <a:ext cx="2035454" cy="3566160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56824" y="2103120"/>
            <a:ext cx="731520" cy="731520"/>
          </a:xfrm>
          <a:prstGeom prst="ellipse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KR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4857" y="3063240"/>
            <a:ext cx="203545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006B63"/>
                </a:solidFill>
                <a:latin typeface="Noto Sans KR"/>
              </a:rPr>
              <a:t>Subagents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6297" y="3657600"/>
            <a:ext cx="1852574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Noto Sans KR"/>
              </a:rPr>
              <a:t>작업을 별도 에이전트에</a:t>
            </a:r>
          </a:p>
          <a:p>
            <a:pPr algn="ctr"/>
            <a:r>
              <a:rPr sz="1400" b="0">
                <a:solidFill>
                  <a:srgbClr val="333333"/>
                </a:solidFill>
                <a:latin typeface="Noto Sans KR"/>
              </a:rPr>
              <a:t>위임합니다.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6868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Noto Sans KR"/>
              </a:rPr>
              <a:t>사용 환경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8686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808080"/>
                </a:solidFill>
                <a:latin typeface="Noto Sans KR"/>
              </a:rPr>
              <a:t>익숙한 곳에서 같은 Claude Code를 씁니다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1463040"/>
            <a:ext cx="11002975" cy="0"/>
          </a:xfrm>
          <a:prstGeom prst="line">
            <a:avLst/>
          </a:prstGeom>
          <a:ln w="952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iamond 4"/>
          <p:cNvSpPr/>
          <p:nvPr/>
        </p:nvSpPr>
        <p:spPr>
          <a:xfrm>
            <a:off x="10058400" y="502920"/>
            <a:ext cx="274320" cy="274320"/>
          </a:xfrm>
          <a:prstGeom prst="diamond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457200"/>
            <a:ext cx="128016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00877A"/>
                </a:solidFill>
                <a:latin typeface="Noto Sans KR"/>
              </a:rPr>
              <a:t>MY LOGO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26364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>
                <a:solidFill>
                  <a:srgbClr val="808080"/>
                </a:solidFill>
                <a:latin typeface="Noto Sans KR"/>
              </a:rPr>
              <a:t>7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Noto Sans KR"/>
              </a:rPr>
              <a:t>claude.com/claude-code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2569464" cy="3566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2295144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800" b="1">
                <a:solidFill>
                  <a:srgbClr val="4DB6AC"/>
                </a:solidFill>
                <a:latin typeface="Noto Sans KR"/>
              </a:rPr>
              <a:t>01</a:t>
            </a:r>
          </a:p>
        </p:txBody>
      </p:sp>
      <p:sp>
        <p:nvSpPr>
          <p:cNvPr id="12" name="Oval 11"/>
          <p:cNvSpPr/>
          <p:nvPr/>
        </p:nvSpPr>
        <p:spPr>
          <a:xfrm>
            <a:off x="2615184" y="2240280"/>
            <a:ext cx="228600" cy="228600"/>
          </a:xfrm>
          <a:prstGeom prst="ellipse">
            <a:avLst/>
          </a:prstGeom>
          <a:solidFill>
            <a:srgbClr val="F5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154680"/>
            <a:ext cx="548640" cy="45720"/>
          </a:xfrm>
          <a:prstGeom prst="rect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383280"/>
            <a:ext cx="229514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006B63"/>
                </a:solidFill>
                <a:latin typeface="Noto Sans KR"/>
              </a:rPr>
              <a:t>터미널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23360"/>
            <a:ext cx="2295144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Noto Sans KR"/>
              </a:rPr>
              <a:t>CLI에서 바로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Noto Sans KR"/>
              </a:rPr>
              <a:t>실행합니다.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2424" y="1828800"/>
            <a:ext cx="2569464" cy="3566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011680"/>
            <a:ext cx="2295144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800" b="1">
                <a:solidFill>
                  <a:srgbClr val="4DB6AC"/>
                </a:solidFill>
                <a:latin typeface="Noto Sans KR"/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75304" y="3154680"/>
            <a:ext cx="548640" cy="45720"/>
          </a:xfrm>
          <a:prstGeom prst="rect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3383280"/>
            <a:ext cx="229514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006B63"/>
                </a:solidFill>
                <a:latin typeface="Noto Sans KR"/>
              </a:rPr>
              <a:t>데스크톱 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9584" y="4023360"/>
            <a:ext cx="2295144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Noto Sans KR"/>
              </a:rPr>
              <a:t>Mac과 Windows용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Noto Sans KR"/>
              </a:rPr>
              <a:t>앱을 제공합니다.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207" y="1828800"/>
            <a:ext cx="2569464" cy="3566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2011680"/>
            <a:ext cx="2295144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800" b="1">
                <a:solidFill>
                  <a:srgbClr val="4DB6AC"/>
                </a:solidFill>
                <a:latin typeface="Noto Sans KR"/>
              </a:rPr>
              <a:t>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9088" y="3154680"/>
            <a:ext cx="548640" cy="45720"/>
          </a:xfrm>
          <a:prstGeom prst="rect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3383280"/>
            <a:ext cx="229514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006B63"/>
                </a:solidFill>
                <a:latin typeface="Noto Sans KR"/>
              </a:rPr>
              <a:t>웹 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4023360"/>
            <a:ext cx="2295144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Noto Sans KR"/>
              </a:rPr>
              <a:t>claude.ai/code에서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Noto Sans KR"/>
              </a:rPr>
              <a:t>브라우저로 사용합니다.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79992" y="1828800"/>
            <a:ext cx="2569464" cy="3566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17152" y="2011680"/>
            <a:ext cx="2295144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800" b="1">
                <a:solidFill>
                  <a:srgbClr val="4DB6AC"/>
                </a:solidFill>
                <a:latin typeface="Noto Sans KR"/>
              </a:rPr>
              <a:t>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62872" y="3154680"/>
            <a:ext cx="548640" cy="45720"/>
          </a:xfrm>
          <a:prstGeom prst="rect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17152" y="3383280"/>
            <a:ext cx="229514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006B63"/>
                </a:solidFill>
                <a:latin typeface="Noto Sans KR"/>
              </a:rPr>
              <a:t>IDE 확장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17152" y="4023360"/>
            <a:ext cx="2295144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Noto Sans KR"/>
              </a:rPr>
              <a:t>VS Code, JetBrains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Noto Sans KR"/>
              </a:rPr>
              <a:t>안에서 사용합니다.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8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Wave 2"/>
          <p:cNvSpPr/>
          <p:nvPr/>
        </p:nvSpPr>
        <p:spPr>
          <a:xfrm>
            <a:off x="-457200" y="4846320"/>
            <a:ext cx="13106095" cy="2377440"/>
          </a:xfrm>
          <a:prstGeom prst="wave">
            <a:avLst/>
          </a:prstGeom>
          <a:solidFill>
            <a:srgbClr val="4DB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Wave 3"/>
          <p:cNvSpPr/>
          <p:nvPr/>
        </p:nvSpPr>
        <p:spPr>
          <a:xfrm>
            <a:off x="-457200" y="5486400"/>
            <a:ext cx="13106095" cy="1828800"/>
          </a:xfrm>
          <a:prstGeom prst="wave">
            <a:avLst/>
          </a:prstGeom>
          <a:solidFill>
            <a:srgbClr val="00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9448495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Noto Sans KR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547207" y="3291840"/>
            <a:ext cx="1097280" cy="64008"/>
          </a:xfrm>
          <a:prstGeom prst="rect">
            <a:avLst/>
          </a:prstGeom>
          <a:solidFill>
            <a:srgbClr val="F5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566160"/>
            <a:ext cx="944849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Noto Sans KR"/>
              </a:rPr>
              <a:t>Claude Code 소개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944849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E0F2F1"/>
                </a:solidFill>
                <a:latin typeface="Noto Sans KR"/>
              </a:rPr>
              <a:t>claude.com/claude-code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